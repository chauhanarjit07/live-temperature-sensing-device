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6" r:id="rId1"/>
  </p:sldMasterIdLst>
  <p:notesMasterIdLst>
    <p:notesMasterId r:id="rId18"/>
  </p:notesMasterIdLst>
  <p:sldIdLst>
    <p:sldId id="256" r:id="rId2"/>
    <p:sldId id="273" r:id="rId3"/>
    <p:sldId id="257" r:id="rId4"/>
    <p:sldId id="258" r:id="rId5"/>
    <p:sldId id="259" r:id="rId6"/>
    <p:sldId id="260" r:id="rId7"/>
    <p:sldId id="261" r:id="rId8"/>
    <p:sldId id="262" r:id="rId9"/>
    <p:sldId id="271" r:id="rId10"/>
    <p:sldId id="263" r:id="rId11"/>
    <p:sldId id="264" r:id="rId12"/>
    <p:sldId id="265" r:id="rId13"/>
    <p:sldId id="266" r:id="rId14"/>
    <p:sldId id="267" r:id="rId15"/>
    <p:sldId id="274" r:id="rId16"/>
    <p:sldId id="272"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895" autoAdjust="0"/>
  </p:normalViewPr>
  <p:slideViewPr>
    <p:cSldViewPr snapToGrid="0" snapToObjects="1">
      <p:cViewPr>
        <p:scale>
          <a:sx n="69" d="100"/>
          <a:sy n="69" d="100"/>
        </p:scale>
        <p:origin x="1301" y="21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451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Animation: Fade In for title &amp; subtitle.</a:t>
            </a:r>
          </a:p>
          <a:p>
            <a:r>
              <a:rPr dirty="0"/>
              <a:t>Notes: Introduce the topic briefly and mention why temperature tracking is important.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Wipe Right for bullets.</a:t>
            </a:r>
          </a:p>
          <a:p>
            <a:r>
              <a:t>Notes: Explain why temperature is important and where it is needed daily.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Fade In.</a:t>
            </a:r>
          </a:p>
          <a:p>
            <a:r>
              <a:t>Notes: Highlight real-world problems like overheating appliances or labs.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Split.</a:t>
            </a:r>
          </a:p>
          <a:p>
            <a:r>
              <a:t>Notes: Simple explanation of what your project aims to achieve.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Fly In.</a:t>
            </a:r>
          </a:p>
          <a:p>
            <a:r>
              <a:t>Notes: Connect each point with a small real-life example.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Wipe Down.</a:t>
            </a:r>
          </a:p>
          <a:p>
            <a:r>
              <a:t>Notes: Explain each step like a flow of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Zoom.</a:t>
            </a:r>
          </a:p>
          <a:p>
            <a:r>
              <a:t>Notes: Briefly explain purpose of each component.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Fade.</a:t>
            </a:r>
          </a:p>
          <a:p>
            <a:r>
              <a:t>Notes: Add real examples like refrigerators or server rooms.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Wipe Left.</a:t>
            </a:r>
          </a:p>
          <a:p>
            <a:r>
              <a:t>Notes: Mention why your system is better than manual methods.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Float In.</a:t>
            </a:r>
          </a:p>
          <a:p>
            <a:r>
              <a:t>Notes: Discuss small challenges in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Fade + Delay.</a:t>
            </a:r>
          </a:p>
          <a:p>
            <a:r>
              <a:t>Notes: Show how your project can be improved.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Zoom.</a:t>
            </a:r>
          </a:p>
          <a:p>
            <a:r>
              <a:t>Notes: Wrap up your project impact in 2-3 lines.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3.png"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3.png"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2.png" /></Relationships>
</file>

<file path=ppt/slideLayouts/_rels/slideLayout9.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2.png"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11/20/2025</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C1FF6DA9-008F-8B48-92A6-B652298478BF}" type="slidenum">
              <a:rPr lang="en-US" smtClean="0"/>
              <a:t>‹#›</a:t>
            </a:fld>
            <a:endParaRPr lang="en-US"/>
          </a:p>
        </p:txBody>
      </p:sp>
    </p:spTree>
    <p:extLst>
      <p:ext uri="{BB962C8B-B14F-4D97-AF65-F5344CB8AC3E}">
        <p14:creationId xmlns:p14="http://schemas.microsoft.com/office/powerpoint/2010/main" val="1693976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8579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5BCAD085-E8A6-8845-BD4E-CB4CCA059FC4}" type="datetimeFigureOut">
              <a:rPr lang="en-US" smtClean="0"/>
              <a:t>11/20/2025</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467246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2163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8905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BCAD085-E8A6-8845-BD4E-CB4CCA059FC4}" type="datetimeFigureOut">
              <a:rPr lang="en-US" smtClean="0"/>
              <a:t>11/20/2025</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5403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33900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5BCAD085-E8A6-8845-BD4E-CB4CCA059FC4}" type="datetimeFigureOut">
              <a:rPr lang="en-US" smtClean="0"/>
              <a:t>11/20/2025</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5315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5BCAD085-E8A6-8845-BD4E-CB4CCA059FC4}" type="datetimeFigureOut">
              <a:rPr lang="en-US" smtClean="0"/>
              <a:t>11/20/2025</a:t>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8287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6654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5878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2.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image" Target="../media/image3.png"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microsoft.com/office/2007/relationships/hdphoto" Target="../media/hdphoto1.wdp"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5BCAD085-E8A6-8845-BD4E-CB4CCA059FC4}" type="datetimeFigureOut">
              <a:rPr lang="en-US" smtClean="0"/>
              <a:t>11/20/2025</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0286522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8" Type="http://schemas.openxmlformats.org/officeDocument/2006/relationships/hyperlink" Target="https://www.electronics-lab.com/project/arduino-analog-thermometer-ds18b20-module/" TargetMode="External" /><Relationship Id="rId13" Type="http://schemas.openxmlformats.org/officeDocument/2006/relationships/hyperlink" Target="https://www.walmart.com/ip/5V-To-12V-Power-Adapter-Cord-5-5x2-1mm-Tip-Switching-Control-For-Home-Appliances/18448321521" TargetMode="External" /><Relationship Id="rId3" Type="http://schemas.openxmlformats.org/officeDocument/2006/relationships/image" Target="../media/image7.jpg" /><Relationship Id="rId7" Type="http://schemas.openxmlformats.org/officeDocument/2006/relationships/image" Target="../media/image9.png" /><Relationship Id="rId12" Type="http://schemas.openxmlformats.org/officeDocument/2006/relationships/image" Target="../media/image11.jpeg" /><Relationship Id="rId2" Type="http://schemas.openxmlformats.org/officeDocument/2006/relationships/notesSlide" Target="../notesSlides/notesSlide7.xml" /><Relationship Id="rId1" Type="http://schemas.openxmlformats.org/officeDocument/2006/relationships/slideLayout" Target="../slideLayouts/slideLayout2.xml" /><Relationship Id="rId6" Type="http://schemas.openxmlformats.org/officeDocument/2006/relationships/hyperlink" Target="https://techin-focus.blogspot.com/2015/10/arduino.html" TargetMode="External" /><Relationship Id="rId11" Type="http://schemas.openxmlformats.org/officeDocument/2006/relationships/hyperlink" Target="https://creativecommons.org/licenses/by-sa/3.0/" TargetMode="External" /><Relationship Id="rId5" Type="http://schemas.openxmlformats.org/officeDocument/2006/relationships/image" Target="../media/image8.jpg" /><Relationship Id="rId10" Type="http://schemas.openxmlformats.org/officeDocument/2006/relationships/hyperlink" Target="https://www.electronics-lab.com/project_tag/acs715t-20a/" TargetMode="External" /><Relationship Id="rId4" Type="http://schemas.openxmlformats.org/officeDocument/2006/relationships/hyperlink" Target="https://www.waketech.edu/events-activities/clubs-and-organizations/990733" TargetMode="External" /><Relationship Id="rId9" Type="http://schemas.openxmlformats.org/officeDocument/2006/relationships/image" Target="../media/image10.jpg" /></Relationships>
</file>

<file path=ppt/slides/_rels/slide9.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Temperature_measurement" TargetMode="Externa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98882" y="700612"/>
            <a:ext cx="7515921" cy="1393901"/>
          </a:xfrm>
        </p:spPr>
        <p:txBody>
          <a:bodyPr>
            <a:noAutofit/>
          </a:bodyPr>
          <a:lstStyle/>
          <a:p>
            <a:pPr algn="l"/>
            <a:r>
              <a:rPr lang="en-IN" sz="4800" b="1" i="1" dirty="0"/>
              <a:t>Presentation </a:t>
            </a:r>
            <a:br>
              <a:rPr lang="en-IN" sz="4800" b="1" i="1" dirty="0"/>
            </a:br>
            <a:r>
              <a:rPr lang="en-IN" sz="4800" b="1" i="1" dirty="0"/>
              <a:t>On</a:t>
            </a:r>
            <a:br>
              <a:rPr lang="en-IN" sz="4800" b="1" i="1" dirty="0"/>
            </a:br>
            <a:r>
              <a:rPr lang="en-IN" sz="4800" b="1" i="1" dirty="0"/>
              <a:t>Real Time Temperature Display System</a:t>
            </a:r>
            <a:endParaRPr sz="4800" b="1" i="1" dirty="0"/>
          </a:p>
        </p:txBody>
      </p:sp>
      <p:sp>
        <p:nvSpPr>
          <p:cNvPr id="3" name="Subtitle 2"/>
          <p:cNvSpPr>
            <a:spLocks noGrp="1"/>
          </p:cNvSpPr>
          <p:nvPr>
            <p:ph type="subTitle" idx="1"/>
          </p:nvPr>
        </p:nvSpPr>
        <p:spPr>
          <a:xfrm>
            <a:off x="95250" y="2746858"/>
            <a:ext cx="8667750" cy="2295064"/>
          </a:xfrm>
        </p:spPr>
        <p:txBody>
          <a:bodyPr>
            <a:normAutofit fontScale="70000" lnSpcReduction="20000"/>
          </a:bodyPr>
          <a:lstStyle/>
          <a:p>
            <a:r>
              <a:rPr lang="en-IN" i="1" dirty="0">
                <a:latin typeface="Arial Rounded MT Bold" panose="020F0704030504030204" pitchFamily="34" charset="0"/>
                <a:ea typeface="Artifakt Element" panose="020B0503050000020004" pitchFamily="34" charset="0"/>
              </a:rPr>
              <a:t>PRESENTED </a:t>
            </a:r>
            <a:r>
              <a:rPr i="1" dirty="0">
                <a:latin typeface="Arial Rounded MT Bold" panose="020F0704030504030204" pitchFamily="34" charset="0"/>
                <a:ea typeface="Artifakt Element" panose="020B0503050000020004" pitchFamily="34" charset="0"/>
              </a:rPr>
              <a:t>By:</a:t>
            </a:r>
          </a:p>
          <a:p>
            <a:r>
              <a:rPr lang="en-IN" i="1" dirty="0">
                <a:latin typeface="Arial Rounded MT Bold" panose="020F0704030504030204" pitchFamily="34" charset="0"/>
                <a:ea typeface="Artifakt Element" panose="020B0503050000020004" pitchFamily="34" charset="0"/>
              </a:rPr>
              <a:t>Ayush Badoni (2027698)</a:t>
            </a:r>
          </a:p>
          <a:p>
            <a:r>
              <a:rPr i="1" dirty="0">
                <a:latin typeface="Arial Rounded MT Bold" panose="020F0704030504030204" pitchFamily="34" charset="0"/>
                <a:ea typeface="Artifakt Element" panose="020B0503050000020004" pitchFamily="34" charset="0"/>
              </a:rPr>
              <a:t>Ayush Dhasmana</a:t>
            </a:r>
            <a:r>
              <a:rPr lang="en-IN" i="1" dirty="0">
                <a:latin typeface="Arial Rounded MT Bold" panose="020F0704030504030204" pitchFamily="34" charset="0"/>
                <a:ea typeface="Artifakt Element" panose="020B0503050000020004" pitchFamily="34" charset="0"/>
              </a:rPr>
              <a:t> (2027701)</a:t>
            </a:r>
          </a:p>
          <a:p>
            <a:r>
              <a:rPr lang="en-IN" i="1" dirty="0" err="1">
                <a:latin typeface="Arial Rounded MT Bold" panose="020F0704030504030204" pitchFamily="34" charset="0"/>
                <a:ea typeface="Artifakt Element" panose="020B0503050000020004" pitchFamily="34" charset="0"/>
              </a:rPr>
              <a:t>Avishkar</a:t>
            </a:r>
            <a:r>
              <a:rPr lang="en-IN" i="1" dirty="0">
                <a:latin typeface="Arial Rounded MT Bold" panose="020F0704030504030204" pitchFamily="34" charset="0"/>
                <a:ea typeface="Artifakt Element" panose="020B0503050000020004" pitchFamily="34" charset="0"/>
              </a:rPr>
              <a:t> </a:t>
            </a:r>
            <a:r>
              <a:rPr lang="en-IN" i="1" dirty="0" err="1">
                <a:latin typeface="Arial Rounded MT Bold" panose="020F0704030504030204" pitchFamily="34" charset="0"/>
                <a:ea typeface="Artifakt Element" panose="020B0503050000020004" pitchFamily="34" charset="0"/>
              </a:rPr>
              <a:t>Rawat</a:t>
            </a:r>
            <a:r>
              <a:rPr lang="en-IN" i="1" dirty="0">
                <a:latin typeface="Arial Rounded MT Bold" panose="020F0704030504030204" pitchFamily="34" charset="0"/>
                <a:ea typeface="Artifakt Element" panose="020B0503050000020004" pitchFamily="34" charset="0"/>
              </a:rPr>
              <a:t> (2027692)</a:t>
            </a:r>
          </a:p>
          <a:p>
            <a:r>
              <a:rPr lang="en-IN" i="1" dirty="0" err="1">
                <a:latin typeface="Arial Rounded MT Bold" panose="020F0704030504030204" pitchFamily="34" charset="0"/>
                <a:ea typeface="Artifakt Element" panose="020B0503050000020004" pitchFamily="34" charset="0"/>
              </a:rPr>
              <a:t>Arjit</a:t>
            </a:r>
            <a:r>
              <a:rPr lang="en-IN" i="1">
                <a:latin typeface="Arial Rounded MT Bold" panose="020F0704030504030204" pitchFamily="34" charset="0"/>
                <a:ea typeface="Artifakt Element" panose="020B0503050000020004" pitchFamily="34" charset="0"/>
              </a:rPr>
              <a:t> Chauhan (2027681</a:t>
            </a:r>
            <a:r>
              <a:rPr lang="en-IN" i="1" dirty="0">
                <a:latin typeface="Arial Rounded MT Bold" panose="020F0704030504030204" pitchFamily="34" charset="0"/>
                <a:ea typeface="Artifakt Element" panose="020B0503050000020004" pitchFamily="34" charset="0"/>
              </a:rPr>
              <a:t>)</a:t>
            </a:r>
          </a:p>
          <a:p>
            <a:r>
              <a:rPr lang="en-IN" i="1" dirty="0">
                <a:latin typeface="Arial Rounded MT Bold" panose="020F0704030504030204" pitchFamily="34" charset="0"/>
                <a:ea typeface="Artifakt Element" panose="020B0503050000020004" pitchFamily="34" charset="0"/>
              </a:rPr>
              <a:t>UNDER THE SUPERVISION OF</a:t>
            </a:r>
          </a:p>
          <a:p>
            <a:r>
              <a:rPr lang="en-IN" i="1" dirty="0">
                <a:latin typeface="Arial Rounded MT Bold" panose="020F0704030504030204" pitchFamily="34" charset="0"/>
                <a:ea typeface="Artifakt Element" panose="020B0503050000020004" pitchFamily="34" charset="0"/>
              </a:rPr>
              <a:t>Dr. Chandni Tiwari</a:t>
            </a:r>
          </a:p>
          <a:p>
            <a:r>
              <a:rPr lang="en-IN" i="1" dirty="0">
                <a:latin typeface="Arial Rounded MT Bold" panose="020F0704030504030204" pitchFamily="34" charset="0"/>
                <a:ea typeface="Artifakt Element" panose="020B0503050000020004" pitchFamily="34" charset="0"/>
              </a:rPr>
              <a:t>(Assistant Professor ,ECE)</a:t>
            </a:r>
            <a:endParaRPr i="1" dirty="0">
              <a:latin typeface="Arial Rounded MT Bold" panose="020F0704030504030204" pitchFamily="34" charset="0"/>
              <a:ea typeface="Artifakt Element" panose="020B0503050000020004" pitchFamily="34" charset="0"/>
            </a:endParaRPr>
          </a:p>
        </p:txBody>
      </p:sp>
      <p:pic>
        <p:nvPicPr>
          <p:cNvPr id="5" name="Picture 4">
            <a:extLst>
              <a:ext uri="{FF2B5EF4-FFF2-40B4-BE49-F238E27FC236}">
                <a16:creationId xmlns:a16="http://schemas.microsoft.com/office/drawing/2014/main" id="{9348622D-5B81-49F9-5CB4-EA09858A9053}"/>
              </a:ext>
            </a:extLst>
          </p:cNvPr>
          <p:cNvPicPr>
            <a:picLocks noChangeAspect="1"/>
          </p:cNvPicPr>
          <p:nvPr/>
        </p:nvPicPr>
        <p:blipFill>
          <a:blip r:embed="rId3"/>
          <a:stretch>
            <a:fillRect/>
          </a:stretch>
        </p:blipFill>
        <p:spPr>
          <a:xfrm>
            <a:off x="95250" y="111513"/>
            <a:ext cx="2150268" cy="2150268"/>
          </a:xfrm>
          <a:prstGeom prst="rect">
            <a:avLst/>
          </a:prstGeom>
        </p:spPr>
      </p:pic>
      <p:sp>
        <p:nvSpPr>
          <p:cNvPr id="6" name="TextBox 5">
            <a:extLst>
              <a:ext uri="{FF2B5EF4-FFF2-40B4-BE49-F238E27FC236}">
                <a16:creationId xmlns:a16="http://schemas.microsoft.com/office/drawing/2014/main" id="{E864B219-C6C8-A7CA-3E96-BAED0FD52EE5}"/>
              </a:ext>
            </a:extLst>
          </p:cNvPr>
          <p:cNvSpPr txBox="1"/>
          <p:nvPr/>
        </p:nvSpPr>
        <p:spPr>
          <a:xfrm>
            <a:off x="2039474" y="5334536"/>
            <a:ext cx="4684051" cy="1323439"/>
          </a:xfrm>
          <a:prstGeom prst="rect">
            <a:avLst/>
          </a:prstGeom>
          <a:noFill/>
        </p:spPr>
        <p:txBody>
          <a:bodyPr wrap="square" rtlCol="0">
            <a:spAutoFit/>
          </a:bodyPr>
          <a:lstStyle/>
          <a:p>
            <a:pPr algn="ctr"/>
            <a:r>
              <a:rPr lang="en-IN" sz="2000" b="1" dirty="0">
                <a:cs typeface="Times New Roman" panose="02020603050405020304" pitchFamily="18" charset="0"/>
              </a:rPr>
              <a:t>Department of Electronics and Communication</a:t>
            </a:r>
            <a:br>
              <a:rPr lang="en-IN" sz="2000" b="1" dirty="0">
                <a:cs typeface="Times New Roman" panose="02020603050405020304" pitchFamily="18" charset="0"/>
              </a:rPr>
            </a:br>
            <a:r>
              <a:rPr lang="en-IN" sz="2000" b="1" dirty="0">
                <a:cs typeface="Times New Roman" panose="02020603050405020304" pitchFamily="18" charset="0"/>
              </a:rPr>
              <a:t>Graphic Era University</a:t>
            </a:r>
            <a:br>
              <a:rPr lang="en-IN" sz="2000" b="1" dirty="0">
                <a:cs typeface="Times New Roman" panose="02020603050405020304" pitchFamily="18" charset="0"/>
              </a:rPr>
            </a:br>
            <a:r>
              <a:rPr lang="en-IN" sz="2000" b="1" dirty="0">
                <a:cs typeface="Times New Roman" panose="02020603050405020304" pitchFamily="18" charset="0"/>
              </a:rPr>
              <a:t>Dehradun, India</a:t>
            </a:r>
            <a:endParaRPr lang="en-US" sz="2000" b="1" dirty="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0D6EE-655C-43DC-9683-291D4BFD67CC}"/>
              </a:ext>
            </a:extLst>
          </p:cNvPr>
          <p:cNvSpPr>
            <a:spLocks noGrp="1"/>
          </p:cNvSpPr>
          <p:nvPr>
            <p:ph type="title"/>
          </p:nvPr>
        </p:nvSpPr>
        <p:spPr/>
        <p:txBody>
          <a:bodyPr/>
          <a:lstStyle/>
          <a:p>
            <a:r>
              <a:rPr lang="en-IN" b="1" i="1" dirty="0"/>
              <a:t>Contents</a:t>
            </a:r>
          </a:p>
        </p:txBody>
      </p:sp>
      <p:sp>
        <p:nvSpPr>
          <p:cNvPr id="3" name="Content Placeholder 2">
            <a:extLst>
              <a:ext uri="{FF2B5EF4-FFF2-40B4-BE49-F238E27FC236}">
                <a16:creationId xmlns:a16="http://schemas.microsoft.com/office/drawing/2014/main" id="{C24BAF3A-66E0-CFF0-2B13-4400FC947D4C}"/>
              </a:ext>
            </a:extLst>
          </p:cNvPr>
          <p:cNvSpPr>
            <a:spLocks noGrp="1"/>
          </p:cNvSpPr>
          <p:nvPr>
            <p:ph idx="1"/>
          </p:nvPr>
        </p:nvSpPr>
        <p:spPr/>
        <p:txBody>
          <a:bodyPr>
            <a:normAutofit fontScale="70000" lnSpcReduction="20000"/>
          </a:bodyPr>
          <a:lstStyle/>
          <a:p>
            <a:r>
              <a:rPr lang="en-IN" dirty="0"/>
              <a:t>Introduction</a:t>
            </a:r>
          </a:p>
          <a:p>
            <a:r>
              <a:rPr lang="en-IN" dirty="0"/>
              <a:t>Problem Statement</a:t>
            </a:r>
          </a:p>
          <a:p>
            <a:r>
              <a:rPr lang="en-IN" dirty="0"/>
              <a:t>Objectives</a:t>
            </a:r>
          </a:p>
          <a:p>
            <a:r>
              <a:rPr lang="en-IN" dirty="0"/>
              <a:t>Significance</a:t>
            </a:r>
          </a:p>
          <a:p>
            <a:r>
              <a:rPr lang="en-IN" dirty="0"/>
              <a:t>Working principle</a:t>
            </a:r>
          </a:p>
          <a:p>
            <a:r>
              <a:rPr lang="en-IN" dirty="0"/>
              <a:t>Components Used </a:t>
            </a:r>
          </a:p>
          <a:p>
            <a:r>
              <a:rPr lang="en-IN" dirty="0"/>
              <a:t>Result &amp; Discussion</a:t>
            </a:r>
          </a:p>
          <a:p>
            <a:r>
              <a:rPr lang="en-IN" dirty="0"/>
              <a:t>Applications</a:t>
            </a:r>
          </a:p>
          <a:p>
            <a:r>
              <a:rPr lang="en-IN" dirty="0"/>
              <a:t>Advantages</a:t>
            </a:r>
          </a:p>
          <a:p>
            <a:r>
              <a:rPr lang="en-IN" dirty="0"/>
              <a:t>Limitations</a:t>
            </a:r>
          </a:p>
          <a:p>
            <a:r>
              <a:rPr lang="en-IN" dirty="0"/>
              <a:t>Future scope</a:t>
            </a:r>
          </a:p>
          <a:p>
            <a:r>
              <a:rPr lang="en-IN" dirty="0"/>
              <a:t>Conclusion</a:t>
            </a:r>
          </a:p>
          <a:p>
            <a:r>
              <a:rPr lang="en-IN" dirty="0"/>
              <a:t>References</a:t>
            </a:r>
          </a:p>
          <a:p>
            <a:endParaRPr lang="en-IN" dirty="0"/>
          </a:p>
          <a:p>
            <a:endParaRPr lang="en-IN" dirty="0"/>
          </a:p>
          <a:p>
            <a:endParaRPr lang="en-IN" dirty="0"/>
          </a:p>
        </p:txBody>
      </p:sp>
    </p:spTree>
    <p:extLst>
      <p:ext uri="{BB962C8B-B14F-4D97-AF65-F5344CB8AC3E}">
        <p14:creationId xmlns:p14="http://schemas.microsoft.com/office/powerpoint/2010/main" val="2387757039"/>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689" y="828790"/>
            <a:ext cx="6571343" cy="1049235"/>
          </a:xfrm>
        </p:spPr>
        <p:txBody>
          <a:bodyPr/>
          <a:lstStyle/>
          <a:p>
            <a:r>
              <a:rPr b="1" dirty="0"/>
              <a:t>Introduction</a:t>
            </a:r>
          </a:p>
        </p:txBody>
      </p:sp>
      <p:sp>
        <p:nvSpPr>
          <p:cNvPr id="4" name="Rectangle 1">
            <a:extLst>
              <a:ext uri="{FF2B5EF4-FFF2-40B4-BE49-F238E27FC236}">
                <a16:creationId xmlns:a16="http://schemas.microsoft.com/office/drawing/2014/main" id="{D8715479-646C-8A5E-CA4D-5EC3E238FCDA}"/>
              </a:ext>
            </a:extLst>
          </p:cNvPr>
          <p:cNvSpPr>
            <a:spLocks noGrp="1" noChangeArrowheads="1"/>
          </p:cNvSpPr>
          <p:nvPr>
            <p:ph idx="1"/>
          </p:nvPr>
        </p:nvSpPr>
        <p:spPr bwMode="auto">
          <a:xfrm>
            <a:off x="273932" y="1878025"/>
            <a:ext cx="859613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Temperature is one of the most important physical parameters used to measure</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environmental and mech</a:t>
            </a:r>
            <a:r>
              <a:rPr lang="en-US" altLang="en-US" sz="1800" dirty="0">
                <a:latin typeface="Arial" panose="020B0604020202020204" pitchFamily="34" charset="0"/>
              </a:rPr>
              <a:t>a</a:t>
            </a:r>
            <a:r>
              <a:rPr kumimoji="0" lang="en-US" altLang="en-US" sz="1800" b="0" i="0" u="none" strike="noStrike" cap="none" normalizeH="0" baseline="0" dirty="0">
                <a:ln>
                  <a:noFill/>
                </a:ln>
                <a:solidFill>
                  <a:schemeClr val="tx1"/>
                </a:solidFill>
                <a:effectLst/>
                <a:latin typeface="Arial" panose="020B0604020202020204" pitchFamily="34" charset="0"/>
              </a:rPr>
              <a:t>nical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Monitoring temperature in real time helps detect even small changes immediately.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Many systems such as machines, laboratories, hospitals, and homes require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continuous temperature tracking for safety.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real-time temperature tracking sensor measures temperature instantly and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displays it without delay.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improves accuracy and reduces human effort by automating the monitoring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Such systems prevent overheating, equipment damage, and safety hazards.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Modern sensors like LM35 or DHT11 make temperature monitoring more reliable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and efficient.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project focuses on designing a system that tracks temperature continuously</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and provides instant updates to the user.</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Problem Statement</a:t>
            </a:r>
          </a:p>
        </p:txBody>
      </p:sp>
      <p:sp>
        <p:nvSpPr>
          <p:cNvPr id="5" name="Rectangle 2">
            <a:extLst>
              <a:ext uri="{FF2B5EF4-FFF2-40B4-BE49-F238E27FC236}">
                <a16:creationId xmlns:a16="http://schemas.microsoft.com/office/drawing/2014/main" id="{D5DC6662-DA0E-E5F4-E9B9-4A1E49C387CB}"/>
              </a:ext>
            </a:extLst>
          </p:cNvPr>
          <p:cNvSpPr>
            <a:spLocks noGrp="1" noChangeArrowheads="1"/>
          </p:cNvSpPr>
          <p:nvPr>
            <p:ph idx="1"/>
          </p:nvPr>
        </p:nvSpPr>
        <p:spPr bwMode="auto">
          <a:xfrm>
            <a:off x="214076" y="2155023"/>
            <a:ext cx="871584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temperature monitoring is slow, time-consuming, and often inaccurate.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Critical environments such as laboratories, hospitals, industries, and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server rooms require continuous temperature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Sudden temperature rise or fall can cause equipment failure, product damage,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or safety hazards.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methods cannot provide instant alerts when temperature crosses</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safe limits.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There is a need for an automatic system that can measure temperature accurately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and display it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Lack of real-time monitoring increases risks, inefficiency, and human dependency.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Therefore, a reliable real-time temperature tracking sensor is required to ensure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safety, accuracy, and continuous monitoring.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Objectives</a:t>
            </a:r>
          </a:p>
        </p:txBody>
      </p:sp>
      <p:sp>
        <p:nvSpPr>
          <p:cNvPr id="5" name="Rectangle 2">
            <a:extLst>
              <a:ext uri="{FF2B5EF4-FFF2-40B4-BE49-F238E27FC236}">
                <a16:creationId xmlns:a16="http://schemas.microsoft.com/office/drawing/2014/main" id="{4464977E-A20D-EB04-262E-E6636509B75C}"/>
              </a:ext>
            </a:extLst>
          </p:cNvPr>
          <p:cNvSpPr>
            <a:spLocks noGrp="1" noChangeArrowheads="1"/>
          </p:cNvSpPr>
          <p:nvPr>
            <p:ph idx="1"/>
          </p:nvPr>
        </p:nvSpPr>
        <p:spPr bwMode="auto">
          <a:xfrm>
            <a:off x="613673" y="2394387"/>
            <a:ext cx="791665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design and develop a system that can monitor temperature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measure temperature accurately using a digital temperature sensor.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continuously display temperature readings on a screen or device.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alert the user if the temperature crosses a predefined threshold.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reduce human effort by automating the temperature monitoring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create a reliable and cost-effective solution for various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ensure safety and prevent damage caused by overheating or extreme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temperature changes.</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Significance</a:t>
            </a:r>
          </a:p>
        </p:txBody>
      </p:sp>
      <p:sp>
        <p:nvSpPr>
          <p:cNvPr id="4" name="Rectangle 1">
            <a:extLst>
              <a:ext uri="{FF2B5EF4-FFF2-40B4-BE49-F238E27FC236}">
                <a16:creationId xmlns:a16="http://schemas.microsoft.com/office/drawing/2014/main" id="{5B3BFF88-7D27-27ED-1EFB-015671859637}"/>
              </a:ext>
            </a:extLst>
          </p:cNvPr>
          <p:cNvSpPr>
            <a:spLocks noGrp="1" noChangeArrowheads="1"/>
          </p:cNvSpPr>
          <p:nvPr>
            <p:ph idx="1"/>
          </p:nvPr>
        </p:nvSpPr>
        <p:spPr bwMode="auto">
          <a:xfrm>
            <a:off x="457200" y="2293522"/>
            <a:ext cx="807464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Ensures continuous temperature monitoring without human supervision.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Helps prevent overheating, equipment damage, and safety hazards.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Useful in hospitals, laboratories, industries, and smart homes for maintaining</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safe temperature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Improves accuracy and reliability compared to manual readings.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Provides real-time data, allowing quick decision-making in critical situations.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Supports automation and modern smart systems for better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Reduces operational risks and enhances safety in temperature-sensitive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environments.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Helps maintain ideal conditions for machines, medicines, food storage, and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environmental monitoring.</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343" y="-17147"/>
            <a:ext cx="7704667" cy="1981200"/>
          </a:xfrm>
        </p:spPr>
        <p:txBody>
          <a:bodyPr/>
          <a:lstStyle/>
          <a:p>
            <a:r>
              <a:rPr b="1" dirty="0"/>
              <a:t>Working Principle</a:t>
            </a:r>
          </a:p>
        </p:txBody>
      </p:sp>
      <p:sp>
        <p:nvSpPr>
          <p:cNvPr id="4" name="Rectangle 1">
            <a:extLst>
              <a:ext uri="{FF2B5EF4-FFF2-40B4-BE49-F238E27FC236}">
                <a16:creationId xmlns:a16="http://schemas.microsoft.com/office/drawing/2014/main" id="{1EA1EE2B-2B51-0605-09AD-CF9CE62EA6C7}"/>
              </a:ext>
            </a:extLst>
          </p:cNvPr>
          <p:cNvSpPr>
            <a:spLocks noGrp="1" noChangeArrowheads="1"/>
          </p:cNvSpPr>
          <p:nvPr>
            <p:ph idx="1"/>
          </p:nvPr>
        </p:nvSpPr>
        <p:spPr bwMode="auto">
          <a:xfrm>
            <a:off x="278164" y="3246022"/>
            <a:ext cx="858767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temperature sensor detects the surrounding temperature using DHT11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(temperature and humidity sensor)  </a:t>
            </a:r>
            <a:r>
              <a:rPr kumimoji="0" lang="en-US" altLang="en-US" sz="1800" b="0" i="0" u="none" strike="noStrike" cap="none" normalizeH="0" baseline="0" dirty="0">
                <a:ln>
                  <a:noFill/>
                </a:ln>
                <a:solidFill>
                  <a:schemeClr val="tx1"/>
                </a:solidFill>
                <a:effectLst/>
                <a:latin typeface="Arial" panose="020B0604020202020204" pitchFamily="34" charset="0"/>
              </a:rPr>
              <a:t>and converts it</a:t>
            </a: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into an electrical signal.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electrical signal is then sent to a microcontroller (such as Arduino or ESP32).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microcontroller reads the signal and converts it into a digital temperature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processed data is displayed on an OLED screen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the temperature crosses a predefined limit, the system can send an alert.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continues to monitor temperature continuously, ensuring instant</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allows accurate, fast, and automated temperature tracking without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human effort.</a:t>
            </a:r>
          </a:p>
        </p:txBody>
      </p:sp>
      <p:pic>
        <p:nvPicPr>
          <p:cNvPr id="5" name="Picture 4">
            <a:extLst>
              <a:ext uri="{FF2B5EF4-FFF2-40B4-BE49-F238E27FC236}">
                <a16:creationId xmlns:a16="http://schemas.microsoft.com/office/drawing/2014/main" id="{B178BA66-AA78-99EE-E73E-F97DA7D2BEA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79153" y="1427088"/>
            <a:ext cx="2579370" cy="171857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5843"/>
            <a:ext cx="7870723" cy="928191"/>
          </a:xfrm>
        </p:spPr>
        <p:txBody>
          <a:bodyPr/>
          <a:lstStyle/>
          <a:p>
            <a:r>
              <a:rPr b="1" dirty="0"/>
              <a:t>Components Used</a:t>
            </a:r>
          </a:p>
        </p:txBody>
      </p:sp>
      <p:sp>
        <p:nvSpPr>
          <p:cNvPr id="3" name="Content Placeholder 2"/>
          <p:cNvSpPr>
            <a:spLocks noGrp="1"/>
          </p:cNvSpPr>
          <p:nvPr>
            <p:ph idx="1"/>
          </p:nvPr>
        </p:nvSpPr>
        <p:spPr>
          <a:xfrm>
            <a:off x="457200" y="1359176"/>
            <a:ext cx="8229600" cy="5134659"/>
          </a:xfrm>
        </p:spPr>
        <p:txBody>
          <a:bodyPr>
            <a:normAutofit fontScale="55000" lnSpcReduction="20000"/>
          </a:bodyPr>
          <a:lstStyle/>
          <a:p>
            <a:r>
              <a:rPr lang="en-US" b="1" dirty="0"/>
              <a:t>Temperature Sensor (DHT11)</a:t>
            </a:r>
            <a:r>
              <a:rPr lang="en-US" dirty="0"/>
              <a:t> – </a:t>
            </a:r>
          </a:p>
          <a:p>
            <a:pPr marL="0" indent="0">
              <a:buNone/>
            </a:pPr>
            <a:r>
              <a:rPr lang="en-US" dirty="0"/>
              <a:t>	Measures the surrounding temperature.</a:t>
            </a:r>
          </a:p>
          <a:p>
            <a:pPr marL="0" indent="0">
              <a:buNone/>
            </a:pPr>
            <a:endParaRPr lang="en-US" dirty="0"/>
          </a:p>
          <a:p>
            <a:r>
              <a:rPr lang="en-US" b="1" dirty="0"/>
              <a:t>Microcontroller (Arduino)</a:t>
            </a:r>
            <a:r>
              <a:rPr lang="en-US" dirty="0"/>
              <a:t> – </a:t>
            </a:r>
          </a:p>
          <a:p>
            <a:pPr marL="0" indent="0">
              <a:buNone/>
            </a:pPr>
            <a:r>
              <a:rPr lang="en-US" dirty="0"/>
              <a:t>  	Reads and processes sensor data.</a:t>
            </a:r>
          </a:p>
          <a:p>
            <a:pPr marL="0" indent="0">
              <a:buNone/>
            </a:pPr>
            <a:endParaRPr lang="en-US" dirty="0"/>
          </a:p>
          <a:p>
            <a:r>
              <a:rPr lang="en-US" b="1" dirty="0"/>
              <a:t>OLED Display</a:t>
            </a:r>
            <a:r>
              <a:rPr lang="en-US" dirty="0"/>
              <a:t> – </a:t>
            </a:r>
          </a:p>
          <a:p>
            <a:pPr marL="0" indent="0">
              <a:buNone/>
            </a:pPr>
            <a:r>
              <a:rPr lang="en-US" dirty="0"/>
              <a:t>	Shows temperature readings in real time.</a:t>
            </a:r>
          </a:p>
          <a:p>
            <a:endParaRPr lang="en-US" dirty="0"/>
          </a:p>
          <a:p>
            <a:endParaRPr lang="en-US" dirty="0"/>
          </a:p>
          <a:p>
            <a:endParaRPr lang="en-US" dirty="0"/>
          </a:p>
          <a:p>
            <a:r>
              <a:rPr lang="en-US" b="1" dirty="0"/>
              <a:t>Power Supply (USB / 9V Battery / Adapter)</a:t>
            </a:r>
            <a:r>
              <a:rPr lang="en-US" dirty="0"/>
              <a:t> – </a:t>
            </a:r>
          </a:p>
          <a:p>
            <a:pPr marL="0" indent="0">
              <a:buNone/>
            </a:pPr>
            <a:r>
              <a:rPr lang="en-US" dirty="0"/>
              <a:t>	Powers the entire system.</a:t>
            </a:r>
          </a:p>
          <a:p>
            <a:pPr marL="0" indent="0">
              <a:buNone/>
            </a:pPr>
            <a:endParaRPr lang="en-US" dirty="0"/>
          </a:p>
          <a:p>
            <a:pPr marL="0" indent="0">
              <a:buNone/>
            </a:pPr>
            <a:endParaRPr lang="en-US" dirty="0"/>
          </a:p>
          <a:p>
            <a:pPr marL="0" indent="0">
              <a:buNone/>
            </a:pPr>
            <a:endParaRPr lang="en-US" dirty="0"/>
          </a:p>
          <a:p>
            <a:endParaRPr lang="en-US" dirty="0"/>
          </a:p>
          <a:p>
            <a:r>
              <a:rPr lang="en-US" b="1" dirty="0"/>
              <a:t>Jumper Wires</a:t>
            </a:r>
            <a:r>
              <a:rPr lang="en-US" dirty="0"/>
              <a:t> – </a:t>
            </a:r>
          </a:p>
          <a:p>
            <a:pPr marL="0" indent="0">
              <a:buNone/>
            </a:pPr>
            <a:r>
              <a:rPr lang="en-US" dirty="0"/>
              <a:t>	For connecting components and making the circuit.</a:t>
            </a:r>
          </a:p>
          <a:p>
            <a:pPr marL="0" indent="0">
              <a:buNone/>
            </a:pPr>
            <a:endParaRPr dirty="0"/>
          </a:p>
        </p:txBody>
      </p:sp>
      <p:pic>
        <p:nvPicPr>
          <p:cNvPr id="6" name="Picture 5">
            <a:extLst>
              <a:ext uri="{FF2B5EF4-FFF2-40B4-BE49-F238E27FC236}">
                <a16:creationId xmlns:a16="http://schemas.microsoft.com/office/drawing/2014/main" id="{79ECFCC1-110A-3218-B903-8477F0C2EF5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720406" y="2022916"/>
            <a:ext cx="1848464" cy="869211"/>
          </a:xfrm>
          <a:prstGeom prst="rect">
            <a:avLst/>
          </a:prstGeom>
        </p:spPr>
      </p:pic>
      <p:pic>
        <p:nvPicPr>
          <p:cNvPr id="8" name="Picture 7" descr="Several colorful wires with wires attached&#10;&#10;AI-generated content may be incorrect.">
            <a:extLst>
              <a:ext uri="{FF2B5EF4-FFF2-40B4-BE49-F238E27FC236}">
                <a16:creationId xmlns:a16="http://schemas.microsoft.com/office/drawing/2014/main" id="{DAF8654E-1F97-E802-CA33-C495DF95FDDA}"/>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853722" y="5457527"/>
            <a:ext cx="1424415" cy="1068312"/>
          </a:xfrm>
          <a:prstGeom prst="rect">
            <a:avLst/>
          </a:prstGeom>
        </p:spPr>
      </p:pic>
      <p:pic>
        <p:nvPicPr>
          <p:cNvPr id="17" name="Picture 16" descr="A close-up of a blue and black device&#10;&#10;AI-generated content may be incorrect.">
            <a:extLst>
              <a:ext uri="{FF2B5EF4-FFF2-40B4-BE49-F238E27FC236}">
                <a16:creationId xmlns:a16="http://schemas.microsoft.com/office/drawing/2014/main" id="{B8ABCFFA-30B7-C319-8B52-68E69A970BCB}"/>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4736075" y="1251793"/>
            <a:ext cx="1266720" cy="713818"/>
          </a:xfrm>
          <a:prstGeom prst="rect">
            <a:avLst/>
          </a:prstGeom>
        </p:spPr>
      </p:pic>
      <p:pic>
        <p:nvPicPr>
          <p:cNvPr id="20" name="Picture 19" descr="A small electronic device with wires&#10;&#10;AI-generated content may be incorrect.">
            <a:extLst>
              <a:ext uri="{FF2B5EF4-FFF2-40B4-BE49-F238E27FC236}">
                <a16:creationId xmlns:a16="http://schemas.microsoft.com/office/drawing/2014/main" id="{61BAB046-D96E-03D8-50B9-C3C157EF5BD9}"/>
              </a:ext>
            </a:extLst>
          </p:cNvPr>
          <p:cNvPicPr>
            <a:picLocks noChangeAspect="1"/>
          </p:cNvPicPr>
          <p:nvPr/>
        </p:nvPicPr>
        <p:blipFill>
          <a:blip r:embed="rId9">
            <a:extLst>
              <a:ext uri="{837473B0-CC2E-450A-ABE3-18F120FF3D39}">
                <a1611:picAttrSrcUrl xmlns:a1611="http://schemas.microsoft.com/office/drawing/2016/11/main" r:id="rId10"/>
              </a:ext>
            </a:extLst>
          </a:blip>
          <a:srcRect b="7878"/>
          <a:stretch>
            <a:fillRect/>
          </a:stretch>
        </p:blipFill>
        <p:spPr>
          <a:xfrm>
            <a:off x="4736075" y="2986285"/>
            <a:ext cx="1684389" cy="856021"/>
          </a:xfrm>
          <a:prstGeom prst="rect">
            <a:avLst/>
          </a:prstGeom>
        </p:spPr>
      </p:pic>
      <p:sp>
        <p:nvSpPr>
          <p:cNvPr id="21" name="TextBox 20">
            <a:extLst>
              <a:ext uri="{FF2B5EF4-FFF2-40B4-BE49-F238E27FC236}">
                <a16:creationId xmlns:a16="http://schemas.microsoft.com/office/drawing/2014/main" id="{D5CD5AF9-196E-2ED3-7522-11B43715662E}"/>
              </a:ext>
            </a:extLst>
          </p:cNvPr>
          <p:cNvSpPr txBox="1"/>
          <p:nvPr/>
        </p:nvSpPr>
        <p:spPr>
          <a:xfrm>
            <a:off x="701797" y="6858000"/>
            <a:ext cx="7740406" cy="230832"/>
          </a:xfrm>
          <a:prstGeom prst="rect">
            <a:avLst/>
          </a:prstGeom>
          <a:noFill/>
        </p:spPr>
        <p:txBody>
          <a:bodyPr wrap="square" rtlCol="0">
            <a:spAutoFit/>
          </a:bodyPr>
          <a:lstStyle/>
          <a:p>
            <a:r>
              <a:rPr lang="en-IN" sz="900">
                <a:hlinkClick r:id="rId10" tooltip="https://www.electronics-lab.com/project_tag/acs715t-20a/"/>
              </a:rPr>
              <a:t>This Photo</a:t>
            </a:r>
            <a:r>
              <a:rPr lang="en-IN" sz="900"/>
              <a:t> by Unknown Author is licensed under </a:t>
            </a:r>
            <a:r>
              <a:rPr lang="en-IN" sz="900">
                <a:hlinkClick r:id="rId11" tooltip="https://creativecommons.org/licenses/by-sa/3.0/"/>
              </a:rPr>
              <a:t>CC BY-SA</a:t>
            </a:r>
            <a:endParaRPr lang="en-IN" sz="900"/>
          </a:p>
        </p:txBody>
      </p:sp>
      <p:pic>
        <p:nvPicPr>
          <p:cNvPr id="23" name="Picture 22" descr="A black device with a cord&#10;&#10;AI-generated content may be incorrect.">
            <a:extLst>
              <a:ext uri="{FF2B5EF4-FFF2-40B4-BE49-F238E27FC236}">
                <a16:creationId xmlns:a16="http://schemas.microsoft.com/office/drawing/2014/main" id="{85AE4BCB-C8ED-3B61-EE75-39DACC6E5D17}"/>
              </a:ext>
            </a:extLst>
          </p:cNvPr>
          <p:cNvPicPr>
            <a:picLocks noChangeAspect="1"/>
          </p:cNvPicPr>
          <p:nvPr/>
        </p:nvPicPr>
        <p:blipFill>
          <a:blip r:embed="rId12">
            <a:extLst>
              <a:ext uri="{837473B0-CC2E-450A-ABE3-18F120FF3D39}">
                <a1611:picAttrSrcUrl xmlns:a1611="http://schemas.microsoft.com/office/drawing/2016/11/main" r:id="rId13"/>
              </a:ext>
            </a:extLst>
          </a:blip>
          <a:srcRect t="22004" b="20019"/>
          <a:stretch>
            <a:fillRect/>
          </a:stretch>
        </p:blipFill>
        <p:spPr>
          <a:xfrm>
            <a:off x="4735358" y="4198908"/>
            <a:ext cx="1542779" cy="894454"/>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35EDC-6489-F48B-7F01-A260AA14E991}"/>
              </a:ext>
            </a:extLst>
          </p:cNvPr>
          <p:cNvSpPr>
            <a:spLocks noGrp="1"/>
          </p:cNvSpPr>
          <p:nvPr>
            <p:ph type="title"/>
          </p:nvPr>
        </p:nvSpPr>
        <p:spPr/>
        <p:txBody>
          <a:bodyPr/>
          <a:lstStyle/>
          <a:p>
            <a:r>
              <a:rPr lang="en-IN" b="1" dirty="0"/>
              <a:t>Results &amp; Discussions</a:t>
            </a:r>
          </a:p>
        </p:txBody>
      </p:sp>
      <p:sp>
        <p:nvSpPr>
          <p:cNvPr id="3" name="Content Placeholder 2">
            <a:extLst>
              <a:ext uri="{FF2B5EF4-FFF2-40B4-BE49-F238E27FC236}">
                <a16:creationId xmlns:a16="http://schemas.microsoft.com/office/drawing/2014/main" id="{D7F4F040-70EB-1375-C04A-D7D77E5122B6}"/>
              </a:ext>
            </a:extLst>
          </p:cNvPr>
          <p:cNvSpPr>
            <a:spLocks noGrp="1"/>
          </p:cNvSpPr>
          <p:nvPr>
            <p:ph idx="1"/>
          </p:nvPr>
        </p:nvSpPr>
        <p:spPr/>
        <p:txBody>
          <a:bodyPr>
            <a:normAutofit fontScale="92500" lnSpcReduction="10000"/>
          </a:bodyPr>
          <a:lstStyle/>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r>
              <a:rPr lang="en-US" sz="2000" dirty="0"/>
              <a:t>The temperature sensor system successfully measured and displayed the temperature in real time.</a:t>
            </a:r>
          </a:p>
          <a:p>
            <a:r>
              <a:rPr lang="en-US" sz="2000" dirty="0"/>
              <a:t>The output readings were stable, accurate, and responded quickly to temperature changes.</a:t>
            </a:r>
          </a:p>
          <a:p>
            <a:r>
              <a:rPr lang="en-US" sz="2000" dirty="0"/>
              <a:t>The circuit worked efficiently with all components functioning as expected (sensor, microcontroller, display, power supply).</a:t>
            </a:r>
          </a:p>
          <a:p>
            <a:r>
              <a:rPr lang="en-US" sz="2000" dirty="0"/>
              <a:t>The project met its objectives of detecting temperature and presenting the results clearly.</a:t>
            </a:r>
          </a:p>
          <a:p>
            <a:endParaRPr lang="en-IN" dirty="0"/>
          </a:p>
        </p:txBody>
      </p:sp>
      <p:pic>
        <p:nvPicPr>
          <p:cNvPr id="4" name="Picture 3">
            <a:extLst>
              <a:ext uri="{FF2B5EF4-FFF2-40B4-BE49-F238E27FC236}">
                <a16:creationId xmlns:a16="http://schemas.microsoft.com/office/drawing/2014/main" id="{F913CA1A-9CFE-D2D9-6864-20DAD519952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658" t="34252" r="5893" b="25149"/>
          <a:stretch>
            <a:fillRect/>
          </a:stretch>
        </p:blipFill>
        <p:spPr bwMode="auto">
          <a:xfrm>
            <a:off x="2171467" y="1741714"/>
            <a:ext cx="2667000" cy="16872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901472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Applications</a:t>
            </a:r>
          </a:p>
        </p:txBody>
      </p:sp>
      <p:sp>
        <p:nvSpPr>
          <p:cNvPr id="4" name="Rectangle 1">
            <a:extLst>
              <a:ext uri="{FF2B5EF4-FFF2-40B4-BE49-F238E27FC236}">
                <a16:creationId xmlns:a16="http://schemas.microsoft.com/office/drawing/2014/main" id="{AB859398-6012-F043-108D-E35E12664097}"/>
              </a:ext>
            </a:extLst>
          </p:cNvPr>
          <p:cNvSpPr>
            <a:spLocks noGrp="1" noChangeArrowheads="1"/>
          </p:cNvSpPr>
          <p:nvPr>
            <p:ph idx="1"/>
          </p:nvPr>
        </p:nvSpPr>
        <p:spPr bwMode="auto">
          <a:xfrm>
            <a:off x="172065" y="2192338"/>
            <a:ext cx="888256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Smart Homes:</a:t>
            </a:r>
            <a:r>
              <a:rPr kumimoji="0" lang="en-US" altLang="en-US" sz="1800" b="0" i="0" u="none" strike="noStrike" cap="none" normalizeH="0" baseline="0" dirty="0">
                <a:ln>
                  <a:noFill/>
                </a:ln>
                <a:solidFill>
                  <a:schemeClr val="tx1"/>
                </a:solidFill>
                <a:effectLst/>
                <a:latin typeface="Arial" panose="020B0604020202020204" pitchFamily="34" charset="0"/>
              </a:rPr>
              <a:t> For monitoring room temperature and controlling appliances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automatically.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Hospitals &amp; Medical Storage:</a:t>
            </a:r>
            <a:r>
              <a:rPr kumimoji="0" lang="en-US" altLang="en-US" sz="1800" b="0" i="0" u="none" strike="noStrike" cap="none" normalizeH="0" baseline="0" dirty="0">
                <a:ln>
                  <a:noFill/>
                </a:ln>
                <a:solidFill>
                  <a:schemeClr val="tx1"/>
                </a:solidFill>
                <a:effectLst/>
                <a:latin typeface="Arial" panose="020B0604020202020204" pitchFamily="34" charset="0"/>
              </a:rPr>
              <a:t> Ensures safe temperature for medicines, vaccines,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and equipment.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Weather Monitoring Systems:</a:t>
            </a:r>
            <a:r>
              <a:rPr kumimoji="0" lang="en-US" altLang="en-US" sz="1800" b="0" i="0" u="none" strike="noStrike" cap="none" normalizeH="0" baseline="0" dirty="0">
                <a:ln>
                  <a:noFill/>
                </a:ln>
                <a:solidFill>
                  <a:schemeClr val="tx1"/>
                </a:solidFill>
                <a:effectLst/>
                <a:latin typeface="Arial" panose="020B0604020202020204" pitchFamily="34" charset="0"/>
              </a:rPr>
              <a:t> Used in environmental stations to track climate</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Industrial Safety:</a:t>
            </a:r>
            <a:r>
              <a:rPr kumimoji="0" lang="en-US" altLang="en-US" sz="1800" b="0" i="0" u="none" strike="noStrike" cap="none" normalizeH="0" baseline="0" dirty="0">
                <a:ln>
                  <a:noFill/>
                </a:ln>
                <a:solidFill>
                  <a:schemeClr val="tx1"/>
                </a:solidFill>
                <a:effectLst/>
                <a:latin typeface="Arial" panose="020B0604020202020204" pitchFamily="34" charset="0"/>
              </a:rPr>
              <a:t> Prevents overheating of machines, motors, and control panels.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Food &amp; Cold Storage:</a:t>
            </a:r>
            <a:r>
              <a:rPr kumimoji="0" lang="en-US" altLang="en-US" sz="1800" b="0" i="0" u="none" strike="noStrike" cap="none" normalizeH="0" baseline="0" dirty="0">
                <a:ln>
                  <a:noFill/>
                </a:ln>
                <a:solidFill>
                  <a:schemeClr val="tx1"/>
                </a:solidFill>
                <a:effectLst/>
                <a:latin typeface="Arial" panose="020B0604020202020204" pitchFamily="34" charset="0"/>
              </a:rPr>
              <a:t> Maintains required temperature for food preservation.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Server Rooms &amp; Data Centers:</a:t>
            </a:r>
            <a:r>
              <a:rPr kumimoji="0" lang="en-US" altLang="en-US" sz="1800" b="0" i="0" u="none" strike="noStrike" cap="none" normalizeH="0" baseline="0" dirty="0">
                <a:ln>
                  <a:noFill/>
                </a:ln>
                <a:solidFill>
                  <a:schemeClr val="tx1"/>
                </a:solidFill>
                <a:effectLst/>
                <a:latin typeface="Arial" panose="020B0604020202020204" pitchFamily="34" charset="0"/>
              </a:rPr>
              <a:t> Protects servers from overheating and system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failure.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Agriculture &amp; Greenhouses:</a:t>
            </a:r>
            <a:r>
              <a:rPr kumimoji="0" lang="en-US" altLang="en-US" sz="1800" b="0" i="0" u="none" strike="noStrike" cap="none" normalizeH="0" baseline="0" dirty="0">
                <a:ln>
                  <a:noFill/>
                </a:ln>
                <a:solidFill>
                  <a:schemeClr val="tx1"/>
                </a:solidFill>
                <a:effectLst/>
                <a:latin typeface="Arial" panose="020B0604020202020204" pitchFamily="34" charset="0"/>
              </a:rPr>
              <a:t> Helps maintain ideal temperature for plant growth.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Laboratories:</a:t>
            </a:r>
            <a:r>
              <a:rPr kumimoji="0" lang="en-US" altLang="en-US" sz="1800" b="0" i="0" u="none" strike="noStrike" cap="none" normalizeH="0" baseline="0" dirty="0">
                <a:ln>
                  <a:noFill/>
                </a:ln>
                <a:solidFill>
                  <a:schemeClr val="tx1"/>
                </a:solidFill>
                <a:effectLst/>
                <a:latin typeface="Arial" panose="020B0604020202020204" pitchFamily="34" charset="0"/>
              </a:rPr>
              <a:t> Ensures accurate temperature for experiments and chemical storage.</a:t>
            </a:r>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Advantages</a:t>
            </a:r>
          </a:p>
        </p:txBody>
      </p:sp>
      <p:sp>
        <p:nvSpPr>
          <p:cNvPr id="3" name="Content Placeholder 2"/>
          <p:cNvSpPr>
            <a:spLocks noGrp="1"/>
          </p:cNvSpPr>
          <p:nvPr>
            <p:ph idx="1"/>
          </p:nvPr>
        </p:nvSpPr>
        <p:spPr/>
        <p:txBody>
          <a:bodyPr>
            <a:normAutofit fontScale="92500" lnSpcReduction="20000"/>
          </a:bodyPr>
          <a:lstStyle/>
          <a:p>
            <a:r>
              <a:rPr lang="en-US" dirty="0"/>
              <a:t>Provides </a:t>
            </a:r>
            <a:r>
              <a:rPr lang="en-US" b="1" dirty="0"/>
              <a:t>accurate and real-time</a:t>
            </a:r>
            <a:r>
              <a:rPr lang="en-US" dirty="0"/>
              <a:t> temperature readings.</a:t>
            </a:r>
          </a:p>
          <a:p>
            <a:r>
              <a:rPr lang="en-US" dirty="0"/>
              <a:t>Reduces </a:t>
            </a:r>
            <a:r>
              <a:rPr lang="en-US" b="1" dirty="0"/>
              <a:t>human effort</a:t>
            </a:r>
            <a:r>
              <a:rPr lang="en-US" dirty="0"/>
              <a:t> by automating the monitoring process.</a:t>
            </a:r>
          </a:p>
          <a:p>
            <a:r>
              <a:rPr lang="en-US" dirty="0"/>
              <a:t>Helps </a:t>
            </a:r>
            <a:r>
              <a:rPr lang="en-US" b="1" dirty="0"/>
              <a:t>prevent overheating</a:t>
            </a:r>
            <a:r>
              <a:rPr lang="en-US" dirty="0"/>
              <a:t>, </a:t>
            </a:r>
            <a:r>
              <a:rPr lang="en-US" b="1" dirty="0"/>
              <a:t>equipment damage</a:t>
            </a:r>
            <a:r>
              <a:rPr lang="en-US" dirty="0"/>
              <a:t>, and </a:t>
            </a:r>
            <a:r>
              <a:rPr lang="en-US" b="1" dirty="0"/>
              <a:t>safety hazards</a:t>
            </a:r>
            <a:r>
              <a:rPr lang="en-US" dirty="0"/>
              <a:t>.</a:t>
            </a:r>
          </a:p>
          <a:p>
            <a:r>
              <a:rPr lang="en-US" dirty="0"/>
              <a:t>Works </a:t>
            </a:r>
            <a:r>
              <a:rPr lang="en-US" b="1" dirty="0"/>
              <a:t>continuously 24/7</a:t>
            </a:r>
            <a:r>
              <a:rPr lang="en-US" dirty="0"/>
              <a:t> without interruption.</a:t>
            </a:r>
          </a:p>
          <a:p>
            <a:r>
              <a:rPr lang="en-US" dirty="0"/>
              <a:t>Improves efficiency by giving </a:t>
            </a:r>
            <a:r>
              <a:rPr lang="en-US" b="1" dirty="0"/>
              <a:t>instant alerts</a:t>
            </a:r>
            <a:r>
              <a:rPr lang="en-US" dirty="0"/>
              <a:t> when temperature crosses limits.</a:t>
            </a:r>
          </a:p>
          <a:p>
            <a:r>
              <a:rPr lang="en-US" dirty="0"/>
              <a:t>Easy to install and operate with </a:t>
            </a:r>
            <a:r>
              <a:rPr lang="en-US" b="1" dirty="0"/>
              <a:t>low maintenance</a:t>
            </a:r>
            <a:r>
              <a:rPr lang="en-US" dirty="0"/>
              <a:t>.</a:t>
            </a:r>
          </a:p>
          <a:p>
            <a:r>
              <a:rPr lang="en-US" dirty="0"/>
              <a:t>Cost-effective compared to manual monitoring systems.</a:t>
            </a:r>
          </a:p>
          <a:p>
            <a:r>
              <a:rPr lang="en-US" dirty="0"/>
              <a:t>Can be easily upgraded with </a:t>
            </a:r>
            <a:r>
              <a:rPr lang="en-US" b="1" dirty="0"/>
              <a:t>IoT, mobile apps, and cloud storage</a:t>
            </a:r>
            <a:r>
              <a:rPr lang="en-US" dirty="0"/>
              <a:t>.</a:t>
            </a:r>
          </a:p>
          <a:p>
            <a:r>
              <a:rPr lang="en-US" dirty="0"/>
              <a:t>Useful in </a:t>
            </a:r>
            <a:r>
              <a:rPr lang="en-US" b="1" dirty="0"/>
              <a:t>multiple applications</a:t>
            </a:r>
            <a:r>
              <a:rPr lang="en-US" dirty="0"/>
              <a:t> like hospitals, industries, and homes.</a:t>
            </a:r>
          </a:p>
          <a:p>
            <a:endParaRPr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Limitations</a:t>
            </a:r>
          </a:p>
        </p:txBody>
      </p:sp>
      <p:sp>
        <p:nvSpPr>
          <p:cNvPr id="4" name="Rectangle 1">
            <a:extLst>
              <a:ext uri="{FF2B5EF4-FFF2-40B4-BE49-F238E27FC236}">
                <a16:creationId xmlns:a16="http://schemas.microsoft.com/office/drawing/2014/main" id="{F6289035-A5DE-9DDC-71F2-7B39A2D32938}"/>
              </a:ext>
            </a:extLst>
          </p:cNvPr>
          <p:cNvSpPr>
            <a:spLocks noGrp="1" noChangeArrowheads="1"/>
          </p:cNvSpPr>
          <p:nvPr>
            <p:ph idx="1"/>
          </p:nvPr>
        </p:nvSpPr>
        <p:spPr bwMode="auto">
          <a:xfrm>
            <a:off x="390525" y="2507407"/>
            <a:ext cx="83695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Sensor accuracy can be affected by </a:t>
            </a:r>
            <a:r>
              <a:rPr kumimoji="0" lang="en-US" altLang="en-US" sz="1800" b="1" i="0" u="none" strike="noStrike" cap="none" normalizeH="0" baseline="0" dirty="0">
                <a:ln>
                  <a:noFill/>
                </a:ln>
                <a:solidFill>
                  <a:schemeClr val="tx1"/>
                </a:solidFill>
                <a:effectLst/>
                <a:latin typeface="Arial" panose="020B0604020202020204" pitchFamily="34" charset="0"/>
              </a:rPr>
              <a:t>dust, and airflow</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Requires </a:t>
            </a:r>
            <a:r>
              <a:rPr kumimoji="0" lang="en-US" altLang="en-US" sz="1800" b="1" i="0" u="none" strike="noStrike" cap="none" normalizeH="0" baseline="0" dirty="0">
                <a:ln>
                  <a:noFill/>
                </a:ln>
                <a:solidFill>
                  <a:schemeClr val="tx1"/>
                </a:solidFill>
                <a:effectLst/>
                <a:latin typeface="Arial" panose="020B0604020202020204" pitchFamily="34" charset="0"/>
              </a:rPr>
              <a:t>proper calibration</a:t>
            </a:r>
            <a:r>
              <a:rPr kumimoji="0" lang="en-US" altLang="en-US" sz="1800" b="0" i="0" u="none" strike="noStrike" cap="none" normalizeH="0" baseline="0" dirty="0">
                <a:ln>
                  <a:noFill/>
                </a:ln>
                <a:solidFill>
                  <a:schemeClr val="tx1"/>
                </a:solidFill>
                <a:effectLst/>
                <a:latin typeface="Arial" panose="020B0604020202020204" pitchFamily="34" charset="0"/>
              </a:rPr>
              <a:t> to maintain accurate readings.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Needs a </a:t>
            </a:r>
            <a:r>
              <a:rPr kumimoji="0" lang="en-US" altLang="en-US" sz="1800" b="1" i="0" u="none" strike="noStrike" cap="none" normalizeH="0" baseline="0" dirty="0">
                <a:ln>
                  <a:noFill/>
                </a:ln>
                <a:solidFill>
                  <a:schemeClr val="tx1"/>
                </a:solidFill>
                <a:effectLst/>
                <a:latin typeface="Arial" panose="020B0604020202020204" pitchFamily="34" charset="0"/>
              </a:rPr>
              <a:t>stable power supply</a:t>
            </a:r>
            <a:r>
              <a:rPr kumimoji="0" lang="en-US" altLang="en-US" sz="1800" b="0" i="0" u="none" strike="noStrike" cap="none" normalizeH="0" baseline="0" dirty="0">
                <a:ln>
                  <a:noFill/>
                </a:ln>
                <a:solidFill>
                  <a:schemeClr val="tx1"/>
                </a:solidFill>
                <a:effectLst/>
                <a:latin typeface="Arial" panose="020B0604020202020204" pitchFamily="34" charset="0"/>
              </a:rPr>
              <a:t> for continuous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Limited </a:t>
            </a:r>
            <a:r>
              <a:rPr kumimoji="0" lang="en-US" altLang="en-US" sz="1800" b="1" i="0" u="none" strike="noStrike" cap="none" normalizeH="0" baseline="0" dirty="0">
                <a:ln>
                  <a:noFill/>
                </a:ln>
                <a:solidFill>
                  <a:schemeClr val="tx1"/>
                </a:solidFill>
                <a:effectLst/>
                <a:latin typeface="Arial" panose="020B0604020202020204" pitchFamily="34" charset="0"/>
              </a:rPr>
              <a:t>range and sensitivity</a:t>
            </a:r>
            <a:r>
              <a:rPr kumimoji="0" lang="en-US" altLang="en-US" sz="1800" b="0" i="0" u="none" strike="noStrike" cap="none" normalizeH="0" baseline="0" dirty="0">
                <a:ln>
                  <a:noFill/>
                </a:ln>
                <a:solidFill>
                  <a:schemeClr val="tx1"/>
                </a:solidFill>
                <a:effectLst/>
                <a:latin typeface="Arial" panose="020B0604020202020204" pitchFamily="34" charset="0"/>
              </a:rPr>
              <a:t> depending on the type of sensor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May require </a:t>
            </a:r>
            <a:r>
              <a:rPr kumimoji="0" lang="en-US" altLang="en-US" sz="1800" b="1" i="0" u="none" strike="noStrike" cap="none" normalizeH="0" baseline="0" dirty="0">
                <a:ln>
                  <a:noFill/>
                </a:ln>
                <a:solidFill>
                  <a:schemeClr val="tx1"/>
                </a:solidFill>
                <a:effectLst/>
                <a:latin typeface="Arial" panose="020B0604020202020204" pitchFamily="34" charset="0"/>
              </a:rPr>
              <a:t>internet connectivity</a:t>
            </a:r>
            <a:r>
              <a:rPr kumimoji="0" lang="en-US" altLang="en-US" sz="1800" b="0" i="0" u="none" strike="noStrike" cap="none" normalizeH="0" baseline="0" dirty="0">
                <a:ln>
                  <a:noFill/>
                </a:ln>
                <a:solidFill>
                  <a:schemeClr val="tx1"/>
                </a:solidFill>
                <a:effectLst/>
                <a:latin typeface="Arial" panose="020B0604020202020204" pitchFamily="34" charset="0"/>
              </a:rPr>
              <a:t> if used with IoT-based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Sudden temperature spikes may cause </a:t>
            </a:r>
            <a:r>
              <a:rPr kumimoji="0" lang="en-US" altLang="en-US" sz="1800" b="1" i="0" u="none" strike="noStrike" cap="none" normalizeH="0" baseline="0" dirty="0">
                <a:ln>
                  <a:noFill/>
                </a:ln>
                <a:solidFill>
                  <a:schemeClr val="tx1"/>
                </a:solidFill>
                <a:effectLst/>
                <a:latin typeface="Arial" panose="020B0604020202020204" pitchFamily="34" charset="0"/>
              </a:rPr>
              <a:t>delayed response</a:t>
            </a:r>
            <a:r>
              <a:rPr kumimoji="0" lang="en-US" altLang="en-US" sz="1800" b="0" i="0" u="none" strike="noStrike" cap="none" normalizeH="0" baseline="0" dirty="0">
                <a:ln>
                  <a:noFill/>
                </a:ln>
                <a:solidFill>
                  <a:schemeClr val="tx1"/>
                </a:solidFill>
                <a:effectLst/>
                <a:latin typeface="Arial" panose="020B0604020202020204" pitchFamily="34" charset="0"/>
              </a:rPr>
              <a:t> in low-cost sensors.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Installation in harsh environments may need </a:t>
            </a:r>
            <a:r>
              <a:rPr kumimoji="0" lang="en-US" altLang="en-US" sz="1800" b="1" i="0" u="none" strike="noStrike" cap="none" normalizeH="0" baseline="0" dirty="0">
                <a:ln>
                  <a:noFill/>
                </a:ln>
                <a:solidFill>
                  <a:schemeClr val="tx1"/>
                </a:solidFill>
                <a:effectLst/>
                <a:latin typeface="Arial" panose="020B0604020202020204" pitchFamily="34" charset="0"/>
              </a:rPr>
              <a:t>additional protection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may vary if the sensor is not placed in the correct position.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Future Scope</a:t>
            </a:r>
          </a:p>
        </p:txBody>
      </p:sp>
      <p:sp>
        <p:nvSpPr>
          <p:cNvPr id="4" name="Rectangle 1">
            <a:extLst>
              <a:ext uri="{FF2B5EF4-FFF2-40B4-BE49-F238E27FC236}">
                <a16:creationId xmlns:a16="http://schemas.microsoft.com/office/drawing/2014/main" id="{2280C98A-1E6F-1545-DF2A-8C57E7708F89}"/>
              </a:ext>
            </a:extLst>
          </p:cNvPr>
          <p:cNvSpPr>
            <a:spLocks noGrp="1" noChangeArrowheads="1"/>
          </p:cNvSpPr>
          <p:nvPr>
            <p:ph idx="1"/>
          </p:nvPr>
        </p:nvSpPr>
        <p:spPr bwMode="auto">
          <a:xfrm>
            <a:off x="457200" y="2293523"/>
            <a:ext cx="833112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can be upgraded by adding </a:t>
            </a:r>
            <a:r>
              <a:rPr kumimoji="0" lang="en-US" altLang="en-US" sz="1800" b="1" i="0" u="none" strike="noStrike" cap="none" normalizeH="0" baseline="0" dirty="0">
                <a:ln>
                  <a:noFill/>
                </a:ln>
                <a:solidFill>
                  <a:schemeClr val="tx1"/>
                </a:solidFill>
                <a:effectLst/>
                <a:latin typeface="Arial" panose="020B0604020202020204" pitchFamily="34" charset="0"/>
              </a:rPr>
              <a:t>IoT connectivity</a:t>
            </a:r>
            <a:r>
              <a:rPr kumimoji="0" lang="en-US" altLang="en-US" sz="1800" b="0" i="0" u="none" strike="noStrike" cap="none" normalizeH="0" baseline="0" dirty="0">
                <a:ln>
                  <a:noFill/>
                </a:ln>
                <a:solidFill>
                  <a:schemeClr val="tx1"/>
                </a:solidFill>
                <a:effectLst/>
                <a:latin typeface="Arial" panose="020B0604020202020204" pitchFamily="34" charset="0"/>
              </a:rPr>
              <a:t> so temperature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data can be monitored online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Integration with </a:t>
            </a:r>
            <a:r>
              <a:rPr kumimoji="0" lang="en-US" altLang="en-US" sz="1800" b="1" i="0" u="none" strike="noStrike" cap="none" normalizeH="0" baseline="0" dirty="0">
                <a:ln>
                  <a:noFill/>
                </a:ln>
                <a:solidFill>
                  <a:schemeClr val="tx1"/>
                </a:solidFill>
                <a:effectLst/>
                <a:latin typeface="Arial" panose="020B0604020202020204" pitchFamily="34" charset="0"/>
              </a:rPr>
              <a:t>mobile apps</a:t>
            </a:r>
            <a:r>
              <a:rPr kumimoji="0" lang="en-US" altLang="en-US" sz="1800" b="0" i="0" u="none" strike="noStrike" cap="none" normalizeH="0" baseline="0" dirty="0">
                <a:ln>
                  <a:noFill/>
                </a:ln>
                <a:solidFill>
                  <a:schemeClr val="tx1"/>
                </a:solidFill>
                <a:effectLst/>
                <a:latin typeface="Arial" panose="020B0604020202020204" pitchFamily="34" charset="0"/>
              </a:rPr>
              <a:t> for alerts and notifications when temperature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crosses a set limit.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Improvement of sensor accuracy by using </a:t>
            </a:r>
            <a:r>
              <a:rPr kumimoji="0" lang="en-US" altLang="en-US" sz="1800" b="1" i="0" u="none" strike="noStrike" cap="none" normalizeH="0" baseline="0" dirty="0">
                <a:ln>
                  <a:noFill/>
                </a:ln>
                <a:solidFill>
                  <a:schemeClr val="tx1"/>
                </a:solidFill>
                <a:effectLst/>
                <a:latin typeface="Arial" panose="020B0604020202020204" pitchFamily="34" charset="0"/>
              </a:rPr>
              <a:t>advanced digital sensors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Adding other environmental sensors like </a:t>
            </a:r>
            <a:r>
              <a:rPr kumimoji="0" lang="en-US" altLang="en-US" sz="1800" b="1" i="0" u="none" strike="noStrike" cap="none" normalizeH="0" baseline="0" dirty="0">
                <a:ln>
                  <a:noFill/>
                </a:ln>
                <a:solidFill>
                  <a:schemeClr val="tx1"/>
                </a:solidFill>
                <a:effectLst/>
                <a:latin typeface="Arial" panose="020B0604020202020204" pitchFamily="34" charset="0"/>
              </a:rPr>
              <a:t>humidity, pressure, and air quality</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to make it a multi-parameter monitoring device.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Implementing </a:t>
            </a:r>
            <a:r>
              <a:rPr kumimoji="0" lang="en-US" altLang="en-US" sz="1800" b="1" i="0" u="none" strike="noStrike" cap="none" normalizeH="0" baseline="0" dirty="0">
                <a:ln>
                  <a:noFill/>
                </a:ln>
                <a:solidFill>
                  <a:schemeClr val="tx1"/>
                </a:solidFill>
                <a:effectLst/>
                <a:latin typeface="Arial" panose="020B0604020202020204" pitchFamily="34" charset="0"/>
              </a:rPr>
              <a:t>solar-powered or low-power designs</a:t>
            </a:r>
            <a:r>
              <a:rPr kumimoji="0" lang="en-US" altLang="en-US" sz="1800" b="0" i="0" u="none" strike="noStrike" cap="none" normalizeH="0" baseline="0" dirty="0">
                <a:ln>
                  <a:noFill/>
                </a:ln>
                <a:solidFill>
                  <a:schemeClr val="tx1"/>
                </a:solidFill>
                <a:effectLst/>
                <a:latin typeface="Arial" panose="020B0604020202020204" pitchFamily="34" charset="0"/>
              </a:rPr>
              <a:t> for long-term and remote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Using </a:t>
            </a:r>
            <a:r>
              <a:rPr kumimoji="0" lang="en-US" altLang="en-US" sz="1800" b="1" i="0" u="none" strike="noStrike" cap="none" normalizeH="0" baseline="0" dirty="0">
                <a:ln>
                  <a:noFill/>
                </a:ln>
                <a:solidFill>
                  <a:schemeClr val="tx1"/>
                </a:solidFill>
                <a:effectLst/>
                <a:latin typeface="Arial" panose="020B0604020202020204" pitchFamily="34" charset="0"/>
              </a:rPr>
              <a:t>wireless modules</a:t>
            </a:r>
            <a:r>
              <a:rPr kumimoji="0" lang="en-US" altLang="en-US" sz="1800" b="0" i="0" u="none" strike="noStrike" cap="none" normalizeH="0" baseline="0" dirty="0">
                <a:ln>
                  <a:noFill/>
                </a:ln>
                <a:solidFill>
                  <a:schemeClr val="tx1"/>
                </a:solidFill>
                <a:effectLst/>
                <a:latin typeface="Arial" panose="020B0604020202020204" pitchFamily="34" charset="0"/>
              </a:rPr>
              <a:t> (Bluetooth, Wi-Fi, LoRa) for long-range monitoring in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industries and agriculture.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p>
        </p:txBody>
      </p:sp>
      <p:sp>
        <p:nvSpPr>
          <p:cNvPr id="3" name="Content Placeholder 2"/>
          <p:cNvSpPr>
            <a:spLocks noGrp="1"/>
          </p:cNvSpPr>
          <p:nvPr>
            <p:ph idx="1"/>
          </p:nvPr>
        </p:nvSpPr>
        <p:spPr>
          <a:xfrm>
            <a:off x="685800" y="2121409"/>
            <a:ext cx="7772400" cy="3431898"/>
          </a:xfrm>
        </p:spPr>
        <p:txBody>
          <a:bodyPr>
            <a:normAutofit fontScale="92500"/>
          </a:bodyPr>
          <a:lstStyle/>
          <a:p>
            <a:pPr marL="0" indent="0" algn="ctr">
              <a:buNone/>
            </a:pPr>
            <a:r>
              <a:rPr lang="en-US" sz="2400" dirty="0"/>
              <a:t>The temperature sensor project successfully demonstrates how temperature can be measured, monitored, and displayed using simple electronic components. It shows the practical use of sensors in real-life applications such as safety, automation, and environmental monitoring. The project meets its objective by providing accurate readings and helping users understand the importance of temperature control. With further improvements like IoT connectivity and advanced sensors, this system can become even more efficient and applicable in various fields</a:t>
            </a:r>
            <a:endParaRPr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7AB3E-EBFA-268F-A0B1-E4D85BC31450}"/>
              </a:ext>
            </a:extLst>
          </p:cNvPr>
          <p:cNvSpPr>
            <a:spLocks noGrp="1"/>
          </p:cNvSpPr>
          <p:nvPr>
            <p:ph type="title"/>
          </p:nvPr>
        </p:nvSpPr>
        <p:spPr/>
        <p:txBody>
          <a:bodyPr>
            <a:normAutofit/>
          </a:bodyPr>
          <a:lstStyle/>
          <a:p>
            <a:r>
              <a:rPr lang="en-IN" b="1" i="1" dirty="0"/>
              <a:t>References</a:t>
            </a:r>
          </a:p>
        </p:txBody>
      </p:sp>
      <p:sp>
        <p:nvSpPr>
          <p:cNvPr id="3" name="Content Placeholder 2">
            <a:extLst>
              <a:ext uri="{FF2B5EF4-FFF2-40B4-BE49-F238E27FC236}">
                <a16:creationId xmlns:a16="http://schemas.microsoft.com/office/drawing/2014/main" id="{FABF510E-FF03-8AF5-CB8E-475F50F54B49}"/>
              </a:ext>
            </a:extLst>
          </p:cNvPr>
          <p:cNvSpPr>
            <a:spLocks noGrp="1"/>
          </p:cNvSpPr>
          <p:nvPr>
            <p:ph idx="1"/>
          </p:nvPr>
        </p:nvSpPr>
        <p:spPr>
          <a:xfrm>
            <a:off x="418171" y="2121855"/>
            <a:ext cx="8229600" cy="2771078"/>
          </a:xfrm>
        </p:spPr>
        <p:txBody>
          <a:bodyPr/>
          <a:lstStyle/>
          <a:p>
            <a:pPr marL="0" indent="0">
              <a:buNone/>
            </a:pPr>
            <a:endParaRPr lang="en-IN" dirty="0"/>
          </a:p>
          <a:p>
            <a:r>
              <a:rPr lang="en-IN" i="1" u="sng" dirty="0">
                <a:hlinkClick r:id="rId2"/>
              </a:rPr>
              <a:t>https://en.wikipedia.org/wiki/Temperature_ measurement</a:t>
            </a:r>
            <a:endParaRPr lang="en-IN" i="1" u="sng" dirty="0"/>
          </a:p>
        </p:txBody>
      </p:sp>
    </p:spTree>
    <p:extLst>
      <p:ext uri="{BB962C8B-B14F-4D97-AF65-F5344CB8AC3E}">
        <p14:creationId xmlns:p14="http://schemas.microsoft.com/office/powerpoint/2010/main" val="916789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1584E-ED21-D08D-4469-2651EEE57542}"/>
              </a:ext>
            </a:extLst>
          </p:cNvPr>
          <p:cNvSpPr>
            <a:spLocks noGrp="1"/>
          </p:cNvSpPr>
          <p:nvPr>
            <p:ph type="title"/>
          </p:nvPr>
        </p:nvSpPr>
        <p:spPr>
          <a:xfrm>
            <a:off x="546409" y="3429000"/>
            <a:ext cx="8229600" cy="1143000"/>
          </a:xfrm>
        </p:spPr>
        <p:txBody>
          <a:bodyPr>
            <a:normAutofit fontScale="90000"/>
          </a:bodyPr>
          <a:lstStyle/>
          <a:p>
            <a:r>
              <a:rPr lang="en-IN" sz="8000" b="1" i="1" dirty="0"/>
              <a:t>THANK YOU</a:t>
            </a:r>
            <a:br>
              <a:rPr lang="en-IN" b="1" i="1" dirty="0"/>
            </a:br>
            <a:br>
              <a:rPr lang="en-IN" b="1" i="1" dirty="0"/>
            </a:br>
            <a:br>
              <a:rPr lang="en-IN" b="1" i="1" dirty="0"/>
            </a:br>
            <a:br>
              <a:rPr lang="en-IN" b="1" i="1" dirty="0"/>
            </a:br>
            <a:endParaRPr lang="en-IN" b="1" i="1" dirty="0"/>
          </a:p>
        </p:txBody>
      </p:sp>
    </p:spTree>
    <p:extLst>
      <p:ext uri="{BB962C8B-B14F-4D97-AF65-F5344CB8AC3E}">
        <p14:creationId xmlns:p14="http://schemas.microsoft.com/office/powerpoint/2010/main" val="18449914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TM03090434[[fn=Wood Type]]</Template>
  <TotalTime>245</TotalTime>
  <Words>1443</Words>
  <Application>Microsoft Office PowerPoint</Application>
  <PresentationFormat>On-screen Show (4:3)</PresentationFormat>
  <Paragraphs>188</Paragraphs>
  <Slides>16</Slides>
  <Notes>12</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Wood Type</vt:lpstr>
      <vt:lpstr>Presentation  On Real Time Temperature Display System</vt:lpstr>
      <vt:lpstr>Contents</vt:lpstr>
      <vt:lpstr>Introduction</vt:lpstr>
      <vt:lpstr>Problem Statement</vt:lpstr>
      <vt:lpstr>Objectives</vt:lpstr>
      <vt:lpstr>Significance</vt:lpstr>
      <vt:lpstr>Working Principle</vt:lpstr>
      <vt:lpstr>Components Used</vt:lpstr>
      <vt:lpstr>Results &amp; Discussions</vt:lpstr>
      <vt:lpstr>Applications</vt:lpstr>
      <vt:lpstr>Advantages</vt:lpstr>
      <vt:lpstr>Limitations</vt:lpstr>
      <vt:lpstr>Future Scope</vt:lpstr>
      <vt:lpstr>Conclusion</vt:lpstr>
      <vt:lpstr>References</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On Real Time Temperature Display System</dc:title>
  <dc:subject/>
  <dc:creator>Ayush Badoni</dc:creator>
  <cp:keywords/>
  <dc:description>generated using python-pptx</dc:description>
  <cp:lastModifiedBy>Ayush Badoni</cp:lastModifiedBy>
  <cp:revision>8</cp:revision>
  <dcterms:created xsi:type="dcterms:W3CDTF">2013-01-27T09:14:16Z</dcterms:created>
  <dcterms:modified xsi:type="dcterms:W3CDTF">2025-11-20T09:18:12Z</dcterms:modified>
  <cp:category/>
</cp:coreProperties>
</file>